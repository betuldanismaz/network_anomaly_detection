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4557932" cy="822960"/>
          </a:xfrm>
          <a:prstGeom prst="rect">
            <a:avLst/>
          </a:prstGeom>
        </p:spPr>
      </p:pic>
      <p:pic>
        <p:nvPicPr>
          <p:cNvPr id="5" name="Picture 4" descr="SIU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457200"/>
            <a:ext cx="13716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91640"/>
            <a:ext cx="1106424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 i="0" dirty="0">
                <a:solidFill>
                  <a:srgbClr val="00B4D8"/>
                </a:solidFill>
                <a:latin typeface="Segoe UI"/>
              </a:rPr>
              <a:t>3</a:t>
            </a:r>
            <a:r>
              <a:rPr lang="en-US" sz="1500" b="1" i="0" dirty="0">
                <a:solidFill>
                  <a:srgbClr val="00B4D8"/>
                </a:solidFill>
                <a:latin typeface="Segoe UI"/>
              </a:rPr>
              <a:t>4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. </a:t>
            </a:r>
            <a:r>
              <a:rPr sz="1500" b="1" i="0" dirty="0" err="1">
                <a:solidFill>
                  <a:srgbClr val="00B4D8"/>
                </a:solidFill>
                <a:latin typeface="Segoe UI"/>
              </a:rPr>
              <a:t>Sinyal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00B4D8"/>
                </a:solidFill>
                <a:latin typeface="Segoe UI"/>
              </a:rPr>
              <a:t>İşleme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00B4D8"/>
                </a:solidFill>
                <a:latin typeface="Segoe UI"/>
              </a:rPr>
              <a:t>ve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00B4D8"/>
                </a:solidFill>
                <a:latin typeface="Segoe UI"/>
              </a:rPr>
              <a:t>İletişim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00B4D8"/>
                </a:solidFill>
                <a:latin typeface="Segoe UI"/>
              </a:rPr>
              <a:t>Uygulamaları</a:t>
            </a:r>
            <a:r>
              <a:rPr sz="1500" b="1" i="0" dirty="0">
                <a:solidFill>
                  <a:srgbClr val="00B4D8"/>
                </a:solidFill>
                <a:latin typeface="Segoe UI"/>
              </a:rPr>
              <a:t> Kurultayı — SIU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698480" cy="1371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Çok Sınıflı Ağ Saldırı Tespiti: Canlı Akış Dağıtımı ile Makine ve Derin Öğrenme Karşılaştırması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996696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0" i="1">
                <a:solidFill>
                  <a:srgbClr val="BFD7EA"/>
                </a:solidFill>
                <a:latin typeface="Segoe UI"/>
              </a:rPr>
              <a:t>Multi-Class Network Intrusion Detection: Machine and Deep Learning Benchmark with Live Stream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332720" cy="3436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900" b="1" i="0" dirty="0" err="1">
                <a:solidFill>
                  <a:srgbClr val="FFFFFF"/>
                </a:solidFill>
                <a:latin typeface="Segoe UI"/>
              </a:rPr>
              <a:t>Betül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Danışmaz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   •   Mustafa Emre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Bıyık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   •   </a:t>
            </a:r>
            <a:r>
              <a:rPr lang="en-US" sz="1900" b="1" i="0" dirty="0">
                <a:solidFill>
                  <a:srgbClr val="FFFFFF"/>
                </a:solidFill>
                <a:latin typeface="Segoe UI"/>
              </a:rPr>
              <a:t>Dr. 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Necip Gözüaçık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CFDFEE"/>
                </a:solidFill>
                <a:latin typeface="Segoe UI"/>
              </a:rPr>
              <a:t>Bilgisayar Mühendisliği &amp; Yazılım Mühendisliği Bölümü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CFDFEE"/>
                </a:solidFill>
                <a:latin typeface="Segoe UI"/>
              </a:rPr>
              <a:t>İstanbul Sağlık ve Teknoloji Üniversitesi, İstanbul, Türkiye</a:t>
            </a:r>
          </a:p>
          <a:p>
            <a:pPr algn="ctr"/>
            <a:r>
              <a:rPr sz="1200" b="0" i="1">
                <a:solidFill>
                  <a:srgbClr val="00B4D8"/>
                </a:solidFill>
                <a:latin typeface="Segoe UI"/>
              </a:rPr>
              <a:t>betul.danismaz · mustafa.emre.biyik · necip.gozuacik  @istun.edu.tr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Sunum Akışı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98448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Problem ve Motivasyon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İmza tabanlı NIDS'in sınırları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29384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01952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Araştırma Boşlukları ve Katkılar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K1–K4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328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32888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05456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Önerilen Metodoloji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Canlı Köprü mimarisi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36392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Veri Seti ve Taksonomi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CICIDS2017 · 3 sınıf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739896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39896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12464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Modeller ve Eğitim Protokolü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ML vs DL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15968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Gerçek Zamanlı Üretim Mimarisi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Kafka · sıfır kesinti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946904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94690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19472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Deneysel Sonuçlar    </a:t>
            </a:r>
            <a:r>
              <a:rPr sz="1400" b="0" i="1">
                <a:solidFill>
                  <a:srgbClr val="4A5A6A"/>
                </a:solidFill>
                <a:latin typeface="Segoe UI"/>
              </a:rPr>
              <a:t>Doğruluk vs hız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55040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550408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22976"/>
            <a:ext cx="9601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Çıkarımlar ve Gelecek Çalışmalar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Problem ve Motivasyon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700" b="0" i="0">
                <a:solidFill>
                  <a:srgbClr val="1A2433"/>
                </a:solidFill>
                <a:latin typeface="Segoe UI"/>
              </a:rPr>
              <a:t>Siber saldırılar artık çok vektörlü kampanyalara dönüştü (DDoS + sızma + botnet C2). Geleneksel NIDS yetersiz kalıyor.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356616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32918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İmza Tabanlı Sistemler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200400" cy="1554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Yalnızca önceden kataloglanmış saldırıları tanır; sıfırıncı gün açıklarına karşı etkisiz.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57400"/>
            <a:ext cx="356616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084831"/>
            <a:ext cx="32918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Kural Tabanlı Sistemler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88920"/>
            <a:ext cx="3200400" cy="1554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Değişen trafiğe uyum sağlayamaz; yüksek yanlış pozitif ve yoğun manuel yapılandırma.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0574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3566160" cy="59436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084831"/>
            <a:ext cx="32918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ML / DL Yaklaşımları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3200400" cy="1554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Proaktif savunma sunar; RF &amp; XGBoost tablo verisinde, LSTM &amp; BiLSTM zamansal örüntüde güçlü.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10927080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105156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Açık problem: Çevrimdışı değerlendirme ile çevrimiçi dağıtım arasındaki uçurum + adil olmayan ML/DL karşılaştırmaları + operasyonel olmayan saldırı taksonomileri.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Araştırma Boşlukları ve Katkılar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94960" cy="54864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5029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Literatürdeki Boşluklar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83480" cy="4023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Çoklu günlük veri setlerinde küresel karıştırma → zamansal veri sızıntısı, yapay yüksek doğruluk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Saldırı taksonomileri SOC triyaj süreçlerinden kopuk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ML ve DL modelleri farklı koşullarda değerlendiriliyor → adil olmayan karşılaştırma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NIDS çalışmalarının &lt;%12'si yeniden üretilebilir MLOps sunuyor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4068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44068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98448"/>
            <a:ext cx="51206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Bu Çalışmanın Katkıları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68580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6858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K1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947672"/>
            <a:ext cx="429768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Dosya Bazlı Katmanlı Bölme protokolü — zamansal sızıntıyı matematiksel olarak ortadan kaldırır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999231"/>
            <a:ext cx="68580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999231"/>
            <a:ext cx="6858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K2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980943"/>
            <a:ext cx="429768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Zararsız / Hacimsel / Anlamsal 3 sınıflı operasyonel taksonomi — SOC triyajını hızlandırır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032502"/>
            <a:ext cx="68580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2"/>
            <a:ext cx="6858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K3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014214"/>
            <a:ext cx="429768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Beş modelin özdeş koşullar altında sistematik karşılaştırması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5065773"/>
            <a:ext cx="68580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5065773"/>
            <a:ext cx="6858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K4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047485"/>
            <a:ext cx="429768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Kafka tabanlı, sıfır kesintili model değişimi + otomatik yanıt sunan gerçek zamanlı üretim mimarisi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Önerilen Metodoloji — Sistem Mimarisi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i="0">
                <a:solidFill>
                  <a:srgbClr val="1A2433"/>
                </a:solidFill>
                <a:latin typeface="Segoe UI"/>
              </a:rPr>
              <a:t>Uçtan uca yapay zekâ tabanlı, canlı ağ trafiğinde çalışan dağıtık “Canlı Köprü (Live Bridge)” mekanizması.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8167" y="1691640"/>
            <a:ext cx="8595360" cy="392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1_i0_720x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07" y="1783080"/>
            <a:ext cx="8412480" cy="373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5676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0" i="1">
                <a:solidFill>
                  <a:srgbClr val="4A5A6A"/>
                </a:solidFill>
                <a:latin typeface="Segoe UI"/>
              </a:rPr>
              <a:t>Şekil 1. Sistem Mimarisi (Yakalama → CICFlowMeter → Kafka → AI Tüketici → Otomatik Yanıt)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Scapy ile Yakalama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6584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86584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CICFlowMeter (78 öznitelik)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248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Top-20 Seçimi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Apache Kafka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37576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 Model Tüketici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5803049"/>
            <a:ext cx="182880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5803049"/>
            <a:ext cx="18288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Otomatik Yanıt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Veri Seti ve 3 Sınıflı Taksonomi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i="0">
                <a:solidFill>
                  <a:srgbClr val="1A2433"/>
                </a:solidFill>
                <a:latin typeface="Segoe UI"/>
              </a:rPr>
              <a:t>CICIDS2017 — 5 günlük çoklu profil trafik. 14 saldırı alt kategorisi → operasyonel olarak 3 sınıfa indirgendi.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6766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Sınıf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Etiket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Saldırı Çeşitleri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Veri Miktarı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Oran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Zararsız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Normal trafik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2.265.000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~%80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Hacimsel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DDoS, DoS, Botnet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396.000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~%14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Anlamsal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Web Saldırıları, Kaba Kuvvet,</a:t>
                      </a:r>
                    </a:p>
                    <a:p>
                      <a:r>
                        <a:t>Port Tarama, Sızma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170.000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~%6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617720"/>
            <a:ext cx="67665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Segoe UI"/>
              </a:rPr>
              <a:t>Tablo I. Üç Sınıflı Tehdit Taksonomisi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920240"/>
            <a:ext cx="393192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1920240"/>
            <a:ext cx="3931920" cy="5029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1938528"/>
            <a:ext cx="36576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Neden Hacimsel ↔ Anlamsal?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560320"/>
            <a:ext cx="3611880" cy="2651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E5A9E"/>
                </a:solidFill>
                <a:latin typeface="Segoe UI"/>
              </a:rPr>
              <a:t>Hacimsel: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Ağ katmanında hız odaklı otomatik engelleme.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C0392B"/>
                </a:solidFill>
                <a:latin typeface="Segoe UI"/>
              </a:rPr>
              <a:t>Anlamsal: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Uygulama katmanında adli analiz + kademeli yetki kısıtlama.</a:t>
            </a:r>
          </a:p>
          <a:p>
            <a:pPr algn="l"/>
            <a:r>
              <a:rPr sz="1400" b="0" i="1">
                <a:solidFill>
                  <a:srgbClr val="4A5A6A"/>
                </a:solidFill>
                <a:latin typeface="Segoe UI"/>
              </a:rPr>
              <a:t>İki vektör SOC'ta temelden farklı müdahale gerektirir.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Veri Mühendisliği — Sızıntısız Bölme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270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64592" cy="14630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33272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Segoe UI"/>
              </a:rPr>
              <a:t>Dosya Bazlı Katmanlı Bölme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24128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Bölütleme, veri seti birleştirilmeden ÖNCE her günlük dosyada bağımsız uygulanır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Aynı saldırı oturumunun eğitim↔test geçişi engellenir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Azınlık Anlamsal sınıfı (%6) her bölütte orantılı temsil edilir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07792"/>
            <a:ext cx="109270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164592" cy="14630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99232"/>
            <a:ext cx="1033272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Segoe UI"/>
              </a:rPr>
              <a:t>Ters-Frekans Sınıf Ağırlığı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1024128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w_c = N_total / (K × N_c),  K = 3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Azınlık sınıf örneklerinin kayıptaki ağırlığı artırılır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ML: sample_weight · DL: ön-hesaplı statik ağırlık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109270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489704"/>
            <a:ext cx="164592" cy="14630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581144"/>
            <a:ext cx="1033272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Segoe UI"/>
              </a:rPr>
              <a:t>Öznitelik Mühendisliği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92624"/>
            <a:ext cx="1024128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CICFlowMeter → 78 çift yönlü istatistiksel öznitelik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Inf / NaN → 0 ile temizleme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Çapraz doğrulanmış önem skoru ile en belirleyici 20 öznitelik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Modeller ve Adil Eğitim Protokolü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i="0">
                <a:solidFill>
                  <a:srgbClr val="1A2433"/>
                </a:solidFill>
                <a:latin typeface="Segoe UI"/>
              </a:rPr>
              <a:t>Aynı hiperparametre, öznitelik ve veri bölütleme → nesnel karşılaştırma.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49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54864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5029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Geleneksel ML — 2B Tablo (N × 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983480" cy="3108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XGBoost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(birincil): multi:softprob, max_depth=7, lr=0.05, subsample=0.8, colsample=0.8, GPU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Rastgele Orman: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36 kombinasyonluk ızgara araması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Karar Ağacı: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yorumlanabilir referans sınıflandırıcı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349240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5029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Derin Öğrenme — 3B Tensör (10 adım)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5029200" cy="3108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LSTM: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128+64 birimli 2 katman, BatchNorm + %30 Dropout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BiLSTM: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çift yönlü; katman ve hiperparametreler LSTM ile aynı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•  Pencere: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10 adım, stride=1 kayan pencere</a:t>
            </a:r>
          </a:p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•  Donanım: </a:t>
            </a:r>
            <a:r>
              <a:rPr sz="1400" b="0" i="0">
                <a:solidFill>
                  <a:srgbClr val="1A2433"/>
                </a:solidFill>
                <a:latin typeface="Segoe UI"/>
              </a:rPr>
              <a:t>RTX 3050, i7-12700H, TF-GPU + CUDA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Gerçek Zamanlı Üretim Mimarisi — “Canlı Köprü”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270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914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9144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35608"/>
            <a:ext cx="96012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Canlı Yakalama ve Eşzamansız İletim</a:t>
            </a:r>
          </a:p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Scapy → 4 sn pencereler → CICFlowMeter (78 öznitelik) → Apache Kafka hattı.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109270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914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9144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42616"/>
            <a:ext cx="96012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Eşzamanlı Çıkarım ve Özellik Hizalama</a:t>
            </a:r>
          </a:p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Kafka Tüketici her akışı Top-20 uzayına indirger; eğitimde fit edilen MinMaxScaler serileştirilir.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39896"/>
            <a:ext cx="109270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39896"/>
            <a:ext cx="914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39896"/>
            <a:ext cx="9144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849624"/>
            <a:ext cx="96012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Sıfır Kesintili Model Değişimi</a:t>
            </a:r>
          </a:p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ML (XGBoost/RF/DT) ↔ DL (LSTM/BiLSTM) arası kuyruğu yeniden başlatmadan canlı hot-swap.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46904"/>
            <a:ext cx="109270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946904"/>
            <a:ext cx="914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46904"/>
            <a:ext cx="9144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056632"/>
            <a:ext cx="96012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Kapalı Döngü Doğrulama ve Otomatik Yanıt</a:t>
            </a:r>
          </a:p>
          <a:p>
            <a:pPr algn="l"/>
            <a:r>
              <a:rPr sz="1400" b="0" i="0">
                <a:solidFill>
                  <a:srgbClr val="1A2433"/>
                </a:solidFill>
                <a:latin typeface="Segoe UI"/>
              </a:rPr>
              <a:t>Üç aşamalı kademeli politika: Uyarı → Şüpheli → Engelleme. Nihai kural SOC analisti onayıyla.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Sonuçlar — Genel Sınıflandırma Başarımı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i="0">
                <a:solidFill>
                  <a:srgbClr val="1A2433"/>
                </a:solidFill>
                <a:latin typeface="Segoe UI"/>
              </a:rPr>
              <a:t>Ana metrik: sınıfları eşit ağırlıklandıran Makro F1-Skoru.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Doğruluk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Mak. Kes.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Mak. Duy.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Makro F1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Gecikme (ms) / Verim (Ö-S)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BiLSTM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98,88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97,98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98,02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97,72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0,1085 / 9.212</a:t>
                      </a:r>
                    </a:p>
                  </a:txBody>
                  <a:tcPr anchor="ctr">
                    <a:solidFill>
                      <a:srgbClr val="D9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98,15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95,79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97,13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96,45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0,0575 / 17.383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Rastgele Orman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94,43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95,91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0,0031 / 319.398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97,71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93,62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98,38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95,87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0,0070 / 142.428</a:t>
                      </a:r>
                    </a:p>
                  </a:txBody>
                  <a:tcPr anchor="ctr">
                    <a:solidFill>
                      <a:srgbClr val="DD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Karar Ağacı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94,26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95,84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0,0001 / 10.534.659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Segoe UI"/>
              </a:rPr>
              <a:t>Tablo II. Model Genel Test Seti Başarımları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5349240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321808"/>
            <a:ext cx="502920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BiLSTM — En yüksek doğruluk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Makro F1 = %97,72 (tüm modeller arası açık yalnızca 1,88 puan)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257800"/>
            <a:ext cx="5349240" cy="9144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5321808"/>
            <a:ext cx="502920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XGBoost — En iyi hız/doğruluk dengesi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Makro F1 = %95,87 · BiLSTM'e göre 15,5× daha hızlı çıkarım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Sonuçlar — Sınıf Bazlı F1 ve Çıkarım Hızı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Zararsız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Hacimsel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Anlamsal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BiLSTM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99,30%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96,92%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98,84%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95,58%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94,93%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94,35%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94,71%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Karar Ağacı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98,28%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91,71%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97,53%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433"/>
                          </a:solidFill>
                          <a:latin typeface="Segoe UI"/>
                        </a:rPr>
                        <a:t>Rastgele Orman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98,32%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91,94%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433"/>
                          </a:solidFill>
                          <a:latin typeface="Segoe UI"/>
                        </a:rPr>
                        <a:t>97,36%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34840"/>
            <a:ext cx="5943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Segoe UI"/>
              </a:rPr>
              <a:t>Tablo III. Sınıf Bazlı F1-Skorları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417320"/>
            <a:ext cx="47091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417320"/>
            <a:ext cx="4709160" cy="502920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435608"/>
            <a:ext cx="438912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Öne Çıkan Bulgular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57400"/>
            <a:ext cx="4389120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Karar Ağacı, Anlamsal sınıfta tüm geleneksel ML modellerini geçti (%97,53) — kural tabanlı ayrıştırma gücü.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Karar Ağacı: saniyede 10M+ akış — en düşük gecikme.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A2433"/>
                </a:solidFill>
                <a:latin typeface="Segoe UI"/>
              </a:rPr>
              <a:t>•  XGBoost: ~142.500 akış/sn, BiLSTM'e göre 15,5× verim.</a:t>
            </a:r>
          </a:p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•  Sonuç: ms gecikme kısıtlı gerçek zamanlı savunmada XGBoost Pareto-optimal.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Çıkarımlar ve Gelecek Çalışmalar</a:t>
            </a:r>
          </a:p>
        </p:txBody>
      </p:sp>
      <p:pic>
        <p:nvPicPr>
          <p:cNvPr id="5" name="Picture 4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71" y="246888"/>
            <a:ext cx="253218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200" b="0" i="0">
                <a:solidFill>
                  <a:srgbClr val="4A5A6A"/>
                </a:solidFill>
                <a:latin typeface="Segoe U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2708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64592" cy="233172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10424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Sonuçlar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1033272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Özdeş koşullarda BiLSTM en yüksek başarım (%97,72 Makro F1); XGBoost 1,85 puan geride ama 15,5× hızlı → Pareto-optimal.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Karar Ağacı, Anlamsal sınıfta tüm ML modellerini geçti — algoritmik karmaşıklık her zaman üstünlük getirmez.</a:t>
            </a:r>
          </a:p>
          <a:p>
            <a:pPr algn="l"/>
            <a:r>
              <a:rPr sz="1500" b="0" i="0">
                <a:solidFill>
                  <a:srgbClr val="1A2433"/>
                </a:solidFill>
                <a:latin typeface="Segoe UI"/>
              </a:rPr>
              <a:t>•  Canlı Köprü mimarisi: sıfır kesintili model değişimiyle SOC'a entegre edilebilir, denetlenebilir çıkarım altyapısı.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94760"/>
            <a:ext cx="109270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164592" cy="21945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10424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Segoe UI"/>
              </a:rPr>
              <a:t>Gelecek Çalışmalar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10332720" cy="1645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CICIDS2018, UNSW-NB15, CIC-DDoS2019 ile veri setleri arası genelleme testi.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Segoe UI"/>
              </a:rPr>
              <a:t>•  Kafka mimarisinin yüksek trafik altında ölçeklenebilirlik sınaması; güven skoruna dayalı dinamik eşikleme + CIDR beyaz liste.</a:t>
            </a:r>
          </a:p>
          <a:p>
            <a:pPr algn="l"/>
            <a:r>
              <a:rPr sz="1500" b="0" i="0">
                <a:solidFill>
                  <a:srgbClr val="1A2433"/>
                </a:solidFill>
                <a:latin typeface="Segoe UI"/>
              </a:rPr>
              <a:t>•  Analist etiketli akışlarla artımlı güncelleme; Transformer tabanlı mimariler, federe öğrenme ve denetimsiz anomali tespiti.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Segoe UI"/>
              </a:rPr>
              <a:t>SIU 2026 — İstanbul Sağlık ve Teknoloji Üniversitesi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stu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3" y="1280160"/>
            <a:ext cx="5064369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  <a:latin typeface="Segoe UI"/>
              </a:rPr>
              <a:t>Sorular &amp; Tartışma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80021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 dirty="0" err="1">
                <a:solidFill>
                  <a:srgbClr val="FFFFFF"/>
                </a:solidFill>
                <a:latin typeface="Segoe UI"/>
              </a:rPr>
              <a:t>Betül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Segoe UI"/>
              </a:rPr>
              <a:t>Danışmaz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 · Mustafa Emre </a:t>
            </a:r>
            <a:r>
              <a:rPr sz="1600" b="1" i="0" dirty="0" err="1">
                <a:solidFill>
                  <a:srgbClr val="FFFFFF"/>
                </a:solidFill>
                <a:latin typeface="Segoe UI"/>
              </a:rPr>
              <a:t>Bıyık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 · 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Dr.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Necip Gözüaçık</a:t>
            </a:r>
          </a:p>
          <a:p>
            <a:pPr algn="ctr">
              <a:spcAft>
                <a:spcPts val="400"/>
              </a:spcAft>
            </a:pPr>
            <a:r>
              <a:rPr sz="1400" b="0" i="0" dirty="0">
                <a:solidFill>
                  <a:srgbClr val="CFDFEE"/>
                </a:solidFill>
                <a:latin typeface="Segoe UI"/>
              </a:rPr>
              <a:t>İstanbul </a:t>
            </a:r>
            <a:r>
              <a:rPr sz="1400" b="0" i="0" dirty="0" err="1">
                <a:solidFill>
                  <a:srgbClr val="CFDFEE"/>
                </a:solidFill>
                <a:latin typeface="Segoe UI"/>
              </a:rPr>
              <a:t>Sağlık</a:t>
            </a:r>
            <a:r>
              <a:rPr sz="1400" b="0" i="0" dirty="0">
                <a:solidFill>
                  <a:srgbClr val="CFDFEE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CFDFEE"/>
                </a:solidFill>
                <a:latin typeface="Segoe UI"/>
              </a:rPr>
              <a:t>ve</a:t>
            </a:r>
            <a:r>
              <a:rPr sz="1400" b="0" i="0" dirty="0">
                <a:solidFill>
                  <a:srgbClr val="CFDFEE"/>
                </a:solidFill>
                <a:latin typeface="Segoe UI"/>
              </a:rPr>
              <a:t> Teknoloji </a:t>
            </a:r>
            <a:r>
              <a:rPr sz="1400" b="0" i="0" dirty="0" err="1">
                <a:solidFill>
                  <a:srgbClr val="CFDFEE"/>
                </a:solidFill>
                <a:latin typeface="Segoe UI"/>
              </a:rPr>
              <a:t>Üniversitesi</a:t>
            </a:r>
            <a:r>
              <a:rPr sz="1400" b="0" i="0" dirty="0">
                <a:solidFill>
                  <a:srgbClr val="CFDFEE"/>
                </a:solidFill>
                <a:latin typeface="Segoe UI"/>
              </a:rPr>
              <a:t> — İstanbul, Türkiye</a:t>
            </a:r>
          </a:p>
          <a:p>
            <a:pPr algn="ctr"/>
            <a:r>
              <a:rPr sz="1200" b="0" i="1" dirty="0" err="1">
                <a:solidFill>
                  <a:srgbClr val="00B4D8"/>
                </a:solidFill>
                <a:latin typeface="Segoe UI"/>
              </a:rPr>
              <a:t>betul.danismaz</a:t>
            </a:r>
            <a:r>
              <a:rPr sz="1200" b="0" i="1" dirty="0">
                <a:solidFill>
                  <a:srgbClr val="00B4D8"/>
                </a:solidFill>
                <a:latin typeface="Segoe UI"/>
              </a:rPr>
              <a:t> · </a:t>
            </a:r>
            <a:r>
              <a:rPr sz="1200" b="0" i="1" dirty="0" err="1">
                <a:solidFill>
                  <a:srgbClr val="00B4D8"/>
                </a:solidFill>
                <a:latin typeface="Segoe UI"/>
              </a:rPr>
              <a:t>mustafa.emre.biyik</a:t>
            </a:r>
            <a:r>
              <a:rPr sz="1200" b="0" i="1" dirty="0">
                <a:solidFill>
                  <a:srgbClr val="00B4D8"/>
                </a:solidFill>
                <a:latin typeface="Segoe UI"/>
              </a:rPr>
              <a:t> · </a:t>
            </a:r>
            <a:r>
              <a:rPr sz="1200" b="0" i="1" dirty="0" err="1">
                <a:solidFill>
                  <a:srgbClr val="00B4D8"/>
                </a:solidFill>
                <a:latin typeface="Segoe UI"/>
              </a:rPr>
              <a:t>necip.gozuacik</a:t>
            </a:r>
            <a:r>
              <a:rPr sz="1200" b="0" i="1" dirty="0">
                <a:solidFill>
                  <a:srgbClr val="00B4D8"/>
                </a:solidFill>
                <a:latin typeface="Segoe UI"/>
              </a:rPr>
              <a:t> @istun.edu.tr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Microsoft Office PowerPoint</Application>
  <PresentationFormat>Widescreen</PresentationFormat>
  <Paragraphs>232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Gözüaçık, Necip (FT D EU TR TI AR3)</cp:lastModifiedBy>
  <cp:revision>4</cp:revision>
  <dcterms:created xsi:type="dcterms:W3CDTF">2013-01-27T09:14:16Z</dcterms:created>
  <dcterms:modified xsi:type="dcterms:W3CDTF">2026-06-26T05:35:50Z</dcterms:modified>
  <cp:category/>
</cp:coreProperties>
</file>